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Plus Jakarta Sans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usJakartaSansMedium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lusJakartaSansMedium-italic.fntdata"/><Relationship Id="rId27" Type="http://schemas.openxmlformats.org/officeDocument/2006/relationships/font" Target="fonts/PlusJakartaSans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2b0967ad13fd00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h2b0967ad13fd00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2b0967ad13fd000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h2b0967ad13fd000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2b0967ad13fd000a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h2b0967ad13fd000a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2b0967ad13fd000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h2b0967ad13fd000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2b0967ad13fd000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h2b0967ad13fd000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2b0967ad13fd000a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h2b0967ad13fd000a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h2b0967ad13fd000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h2b0967ad13fd000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h2b0967ad13fd000a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h2b0967ad13fd000a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2b0967ad13fd000a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h2b0967ad13fd000a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h2b0967ad13fd000a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h2b0967ad13fd000a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2b0967ad13fd000a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h2b0967ad13fd000a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8" name="Google Shape;58;p14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59" name="Google Shape;59;p14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62" name="Google Shape;62;p14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chemeClr val="accent5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" name="Google Shape;84;p19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5" name="Google Shape;85;p19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5" name="Google Shape;105;p22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7" name="Google Shape;107;p22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9" name="Google Shape;109;p22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" name="Google Shape;113;p23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" name="Google Shape;119;p23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122" name="Google Shape;122;p24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6" name="Google Shape;126;p25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7" name="Google Shape;127;p25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8" name="Google Shape;128;p25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1" name="Google Shape;131;p25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4" name="Google Shape;134;p25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6" name="Google Shape;136;p25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7" name="Google Shape;137;p25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5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0" name="Google Shape;140;p25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3" name="Google Shape;143;p26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4" name="Google Shape;144;p26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45" name="Google Shape;145;p26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7" name="Google Shape;147;p26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9" name="Google Shape;149;p26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0" name="Google Shape;150;p26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51" name="Google Shape;151;p26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2" name="Google Shape;152;p26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3" name="Google Shape;153;p26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54" name="Google Shape;154;p26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6" name="Google Shape;156;p26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57" name="Google Shape;157;p26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8" name="Google Shape;158;p26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9" name="Google Shape;159;p26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60" name="Google Shape;160;p26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62" name="Google Shape;162;p26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63" name="Google Shape;163;p26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4" name="Google Shape;164;p26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65" name="Google Shape;165;p26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68" name="Google Shape;168;p27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0" name="Google Shape;170;p27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28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9" name="Google Shape;179;p28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0" name="Google Shape;180;p28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1" name="Google Shape;181;p28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p28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3" name="Google Shape;183;p28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1" name="Google Shape;191;p31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194" name="Google Shape;194;p32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195" name="Google Shape;195;p32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196" name="Google Shape;196;p32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99" name="Google Shape;199;p33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0" name="Google Shape;200;p33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1" name="Google Shape;201;p33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2" name="Google Shape;202;p33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3" name="Google Shape;203;p33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4" name="Google Shape;204;p33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5" name="Google Shape;205;p33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34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211" name="Google Shape;211;p34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212" name="Google Shape;212;p34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35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35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35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24" name="Google Shape;224;p36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36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7" name="Google Shape;227;p36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8" name="Google Shape;228;p36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9" name="Google Shape;229;p36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0" name="Google Shape;230;p36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1" name="Google Shape;231;p36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4" name="Google Shape;234;p36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5" name="Google Shape;235;p36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0" name="Google Shape;240;p37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1" name="Google Shape;241;p37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2" name="Google Shape;242;p37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3" name="Google Shape;243;p37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4" name="Google Shape;244;p37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3" name="Google Shape;253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3" name="Google Shape;263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4" name="Google Shape;264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9" name="Google Shape;269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3" name="Google Shape;273;p4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4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5" name="Google Shape;275;p4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4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" name="Google Shape;277;p4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1" name="Google Shape;281;p4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4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5" name="Google Shape;285;p4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6" name="Google Shape;286;p4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7" name="Google Shape;287;p4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0" name="Google Shape;290;p5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1" name="Google Shape;291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2" name="Google Shape;292;p5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5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5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5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8" name="Google Shape;298;p5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9" name="Google Shape;299;p5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0" name="Google Shape;300;p5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1" name="Google Shape;301;p5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2" name="Google Shape;302;p5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5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4" name="Google Shape;304;p5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" name="Google Shape;305;p5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1" name="Google Shape;311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4" name="Google Shape;31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6" name="Google Shape;316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9" name="Google Shape;319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2" name="Google Shape;322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4" name="Google Shape;3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6" name="Google Shape;326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7" name="Google Shape;327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3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 txBox="1"/>
          <p:nvPr>
            <p:ph idx="1" type="subTitle"/>
          </p:nvPr>
        </p:nvSpPr>
        <p:spPr>
          <a:xfrm>
            <a:off x="4897375" y="2609925"/>
            <a:ext cx="3679800" cy="8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Sean Pun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Aleksander Kasperski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Timothy Wu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Dennis Chen</a:t>
            </a:r>
            <a:endParaRPr/>
          </a:p>
        </p:txBody>
      </p:sp>
      <p:sp>
        <p:nvSpPr>
          <p:cNvPr id="346" name="Google Shape;346;p57"/>
          <p:cNvSpPr txBox="1"/>
          <p:nvPr>
            <p:ph type="title"/>
          </p:nvPr>
        </p:nvSpPr>
        <p:spPr>
          <a:xfrm>
            <a:off x="487775" y="389175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Concord</a:t>
            </a:r>
            <a:endParaRPr/>
          </a:p>
        </p:txBody>
      </p:sp>
      <p:sp>
        <p:nvSpPr>
          <p:cNvPr id="347" name="Google Shape;347;p57"/>
          <p:cNvSpPr txBox="1"/>
          <p:nvPr/>
        </p:nvSpPr>
        <p:spPr>
          <a:xfrm>
            <a:off x="487775" y="1534350"/>
            <a:ext cx="2755500" cy="10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app that unifies clinical trial systems source data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8" name="Google Shape;34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50" y="228600"/>
            <a:ext cx="2070275" cy="20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</a:t>
            </a:r>
            <a:endParaRPr/>
          </a:p>
        </p:txBody>
      </p:sp>
      <p:sp>
        <p:nvSpPr>
          <p:cNvPr id="354" name="Google Shape;354;p58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Clinical trials generate data across </a:t>
            </a:r>
            <a:r>
              <a:rPr lang="en">
                <a:solidFill>
                  <a:schemeClr val="accent4"/>
                </a:solidFill>
              </a:rPr>
              <a:t>separate</a:t>
            </a:r>
            <a:r>
              <a:rPr lang="en">
                <a:solidFill>
                  <a:schemeClr val="accent4"/>
                </a:solidFill>
              </a:rPr>
              <a:t> software systems:</a:t>
            </a:r>
            <a:endParaRPr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-"/>
            </a:pPr>
            <a:r>
              <a:rPr lang="en">
                <a:solidFill>
                  <a:schemeClr val="accent4"/>
                </a:solidFill>
              </a:rPr>
              <a:t>Inconsistent master data</a:t>
            </a:r>
            <a:endParaRPr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-"/>
            </a:pPr>
            <a:r>
              <a:rPr lang="en">
                <a:solidFill>
                  <a:schemeClr val="accent4"/>
                </a:solidFill>
              </a:rPr>
              <a:t>Inflexible &amp; slow reporting</a:t>
            </a:r>
            <a:endParaRPr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-"/>
            </a:pPr>
            <a:r>
              <a:rPr lang="en">
                <a:solidFill>
                  <a:schemeClr val="accent4"/>
                </a:solidFill>
              </a:rPr>
              <a:t>Regulatory, compliance &amp; access barriers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To extract insights, analysts spend WEEKS combining the sources and formatting them to a standard, which can still be prone to errors.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grpSp>
        <p:nvGrpSpPr>
          <p:cNvPr id="355" name="Google Shape;355;p58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56" name="Google Shape;356;p58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7" name="Google Shape;357;p58"/>
            <p:cNvGrpSpPr/>
            <p:nvPr/>
          </p:nvGrpSpPr>
          <p:grpSpPr>
            <a:xfrm>
              <a:off x="8354096" y="4502968"/>
              <a:ext cx="556205" cy="252332"/>
              <a:chOff x="4571989" y="769200"/>
              <a:chExt cx="2320422" cy="1052700"/>
            </a:xfrm>
          </p:grpSpPr>
          <p:sp>
            <p:nvSpPr>
              <p:cNvPr id="358" name="Google Shape;358;p58"/>
              <p:cNvSpPr/>
              <p:nvPr/>
            </p:nvSpPr>
            <p:spPr>
              <a:xfrm>
                <a:off x="5691810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9" name="Google Shape;359;p58"/>
              <p:cNvSpPr/>
              <p:nvPr/>
            </p:nvSpPr>
            <p:spPr>
              <a:xfrm flipH="1">
                <a:off x="4571989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9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</a:t>
            </a:r>
            <a:endParaRPr/>
          </a:p>
        </p:txBody>
      </p:sp>
      <p:sp>
        <p:nvSpPr>
          <p:cNvPr id="365" name="Google Shape;365;p59"/>
          <p:cNvSpPr txBox="1"/>
          <p:nvPr>
            <p:ph idx="1" type="subTitle"/>
          </p:nvPr>
        </p:nvSpPr>
        <p:spPr>
          <a:xfrm>
            <a:off x="228600" y="952675"/>
            <a:ext cx="8372700" cy="3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able to ingest the unharmonized raw data from 5 clinical trial systems and output a user interface for analysts/engineers to query easily, adhering to FAIR principles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 same site has five names: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CTMS trial management - SITE-0708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EDC trial database - 708 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IRT d</a:t>
            </a:r>
            <a:r>
              <a:rPr lang="en" sz="1300"/>
              <a:t>rug supply - </a:t>
            </a:r>
            <a:r>
              <a:rPr lang="en" sz="1300"/>
              <a:t> US708 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Safety - Seattle Center for Clinical Trials (sic) 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Finance - SEATTLE CENTER FOR CLINICAL TRIALS, LLC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0"/>
          <p:cNvSpPr txBox="1"/>
          <p:nvPr>
            <p:ph type="title"/>
          </p:nvPr>
        </p:nvSpPr>
        <p:spPr>
          <a:xfrm>
            <a:off x="228600" y="228600"/>
            <a:ext cx="8567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Concord: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the app to automate harmonization</a:t>
            </a:r>
            <a:endParaRPr/>
          </a:p>
        </p:txBody>
      </p:sp>
      <p:sp>
        <p:nvSpPr>
          <p:cNvPr id="371" name="Google Shape;371;p60"/>
          <p:cNvSpPr/>
          <p:nvPr/>
        </p:nvSpPr>
        <p:spPr>
          <a:xfrm>
            <a:off x="3231150" y="1620850"/>
            <a:ext cx="2681700" cy="3371400"/>
          </a:xfrm>
          <a:prstGeom prst="round2SameRect">
            <a:avLst>
              <a:gd fmla="val 8064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2" name="Google Shape;372;p60"/>
          <p:cNvSpPr/>
          <p:nvPr/>
        </p:nvSpPr>
        <p:spPr>
          <a:xfrm>
            <a:off x="228588" y="1620850"/>
            <a:ext cx="2681700" cy="3371400"/>
          </a:xfrm>
          <a:prstGeom prst="round2SameRect">
            <a:avLst>
              <a:gd fmla="val 8064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3" name="Google Shape;373;p60"/>
          <p:cNvSpPr/>
          <p:nvPr/>
        </p:nvSpPr>
        <p:spPr>
          <a:xfrm>
            <a:off x="6233700" y="1620850"/>
            <a:ext cx="2681700" cy="3371400"/>
          </a:xfrm>
          <a:prstGeom prst="round2SameRect">
            <a:avLst>
              <a:gd fmla="val 8064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4" name="Google Shape;374;p60"/>
          <p:cNvSpPr/>
          <p:nvPr/>
        </p:nvSpPr>
        <p:spPr>
          <a:xfrm>
            <a:off x="4110951" y="1726877"/>
            <a:ext cx="921900" cy="276300"/>
          </a:xfrm>
          <a:prstGeom prst="roundRect">
            <a:avLst>
              <a:gd fmla="val 26895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Server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5" name="Google Shape;375;p60"/>
          <p:cNvSpPr/>
          <p:nvPr/>
        </p:nvSpPr>
        <p:spPr>
          <a:xfrm>
            <a:off x="948173" y="1726873"/>
            <a:ext cx="1214400" cy="311700"/>
          </a:xfrm>
          <a:prstGeom prst="roundRect">
            <a:avLst>
              <a:gd fmla="val 2689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Harmonizer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6" name="Google Shape;376;p60"/>
          <p:cNvSpPr/>
          <p:nvPr/>
        </p:nvSpPr>
        <p:spPr>
          <a:xfrm>
            <a:off x="7113502" y="1726877"/>
            <a:ext cx="921900" cy="276300"/>
          </a:xfrm>
          <a:prstGeom prst="roundRect">
            <a:avLst>
              <a:gd fmla="val 26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Client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7" name="Google Shape;377;p60"/>
          <p:cNvSpPr/>
          <p:nvPr/>
        </p:nvSpPr>
        <p:spPr>
          <a:xfrm>
            <a:off x="3428587" y="2213659"/>
            <a:ext cx="2290800" cy="2582100"/>
          </a:xfrm>
          <a:prstGeom prst="roundRect">
            <a:avLst>
              <a:gd fmla="val 26895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home of the REST API for query endpoints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Translates user queries into SQL with Gemini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Implements different methods of user querying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8" name="Google Shape;378;p60"/>
          <p:cNvSpPr/>
          <p:nvPr/>
        </p:nvSpPr>
        <p:spPr>
          <a:xfrm>
            <a:off x="501723" y="2249351"/>
            <a:ext cx="2099700" cy="2502000"/>
          </a:xfrm>
          <a:prstGeom prst="roundRect">
            <a:avLst>
              <a:gd fmla="val 2689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Ingests the data and standardizes to be joined into one query-able table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implements data rules to catch problems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9" name="Google Shape;379;p60"/>
          <p:cNvSpPr/>
          <p:nvPr/>
        </p:nvSpPr>
        <p:spPr>
          <a:xfrm>
            <a:off x="6516650" y="2249325"/>
            <a:ext cx="2159100" cy="2502000"/>
          </a:xfrm>
          <a:prstGeom prst="roundRect">
            <a:avLst>
              <a:gd fmla="val 26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Interface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connects with server logic to allow users to query data 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and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3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see lineage, crosswalk, quality, and access</a:t>
            </a:r>
            <a:endParaRPr sz="1143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1"/>
          <p:cNvSpPr/>
          <p:nvPr/>
        </p:nvSpPr>
        <p:spPr>
          <a:xfrm>
            <a:off x="228600" y="2273913"/>
            <a:ext cx="2085300" cy="523200"/>
          </a:xfrm>
          <a:prstGeom prst="roundRect">
            <a:avLst>
              <a:gd fmla="val 26895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5" name="Google Shape;385;p61"/>
          <p:cNvSpPr/>
          <p:nvPr/>
        </p:nvSpPr>
        <p:spPr>
          <a:xfrm>
            <a:off x="2429100" y="2273913"/>
            <a:ext cx="2085300" cy="523200"/>
          </a:xfrm>
          <a:prstGeom prst="roundRect">
            <a:avLst>
              <a:gd fmla="val 2689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86" name="Google Shape;386;p61"/>
          <p:cNvSpPr/>
          <p:nvPr/>
        </p:nvSpPr>
        <p:spPr>
          <a:xfrm>
            <a:off x="4629600" y="2273913"/>
            <a:ext cx="2085300" cy="5232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87" name="Google Shape;387;p61"/>
          <p:cNvSpPr/>
          <p:nvPr/>
        </p:nvSpPr>
        <p:spPr>
          <a:xfrm>
            <a:off x="6830100" y="2273913"/>
            <a:ext cx="2085300" cy="523200"/>
          </a:xfrm>
          <a:prstGeom prst="roundRect">
            <a:avLst>
              <a:gd fmla="val 26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88" name="Google Shape;388;p61"/>
          <p:cNvSpPr/>
          <p:nvPr/>
        </p:nvSpPr>
        <p:spPr>
          <a:xfrm>
            <a:off x="228600" y="1697238"/>
            <a:ext cx="523200" cy="523200"/>
          </a:xfrm>
          <a:prstGeom prst="roundRect">
            <a:avLst>
              <a:gd fmla="val 2299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</a:t>
            </a:r>
            <a:endParaRPr sz="18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89" name="Google Shape;389;p61"/>
          <p:cNvSpPr/>
          <p:nvPr/>
        </p:nvSpPr>
        <p:spPr>
          <a:xfrm>
            <a:off x="2429100" y="1697238"/>
            <a:ext cx="523200" cy="523200"/>
          </a:xfrm>
          <a:prstGeom prst="roundRect">
            <a:avLst>
              <a:gd fmla="val 2299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2</a:t>
            </a:r>
            <a:endParaRPr sz="18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90" name="Google Shape;390;p61"/>
          <p:cNvSpPr/>
          <p:nvPr/>
        </p:nvSpPr>
        <p:spPr>
          <a:xfrm>
            <a:off x="4629600" y="1697238"/>
            <a:ext cx="523200" cy="523200"/>
          </a:xfrm>
          <a:prstGeom prst="roundRect">
            <a:avLst>
              <a:gd fmla="val 229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3</a:t>
            </a:r>
            <a:endParaRPr sz="18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91" name="Google Shape;391;p61"/>
          <p:cNvSpPr/>
          <p:nvPr/>
        </p:nvSpPr>
        <p:spPr>
          <a:xfrm>
            <a:off x="6830100" y="1697238"/>
            <a:ext cx="523200" cy="523200"/>
          </a:xfrm>
          <a:prstGeom prst="roundRect">
            <a:avLst>
              <a:gd fmla="val 2299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4</a:t>
            </a:r>
            <a:endParaRPr sz="1800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92" name="Google Shape;392;p61"/>
          <p:cNvSpPr txBox="1"/>
          <p:nvPr>
            <p:ph type="title"/>
          </p:nvPr>
        </p:nvSpPr>
        <p:spPr>
          <a:xfrm>
            <a:off x="228600" y="228600"/>
            <a:ext cx="8156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Harmonization (Medallion Schema)</a:t>
            </a:r>
            <a:endParaRPr/>
          </a:p>
        </p:txBody>
      </p:sp>
      <p:sp>
        <p:nvSpPr>
          <p:cNvPr id="393" name="Google Shape;393;p61"/>
          <p:cNvSpPr txBox="1"/>
          <p:nvPr>
            <p:ph idx="1" type="body"/>
          </p:nvPr>
        </p:nvSpPr>
        <p:spPr>
          <a:xfrm>
            <a:off x="318600" y="2984575"/>
            <a:ext cx="1914300" cy="12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Ingest the RAW data into DuckDB from 5 systems: CTMS, EDC, IRT, Financial, Safety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/>
              <a:t>BRONZE</a:t>
            </a:r>
            <a:endParaRPr b="1"/>
          </a:p>
        </p:txBody>
      </p:sp>
      <p:sp>
        <p:nvSpPr>
          <p:cNvPr id="394" name="Google Shape;394;p61"/>
          <p:cNvSpPr txBox="1"/>
          <p:nvPr>
            <p:ph idx="2" type="body"/>
          </p:nvPr>
        </p:nvSpPr>
        <p:spPr>
          <a:xfrm>
            <a:off x="6911100" y="2984575"/>
            <a:ext cx="1914300" cy="12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duplicates and format properly. Runs quality checks. Final cleanup that the program can query.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/>
              <a:t>GOLD</a:t>
            </a:r>
            <a:endParaRPr b="1"/>
          </a:p>
        </p:txBody>
      </p:sp>
      <p:sp>
        <p:nvSpPr>
          <p:cNvPr id="395" name="Google Shape;395;p61"/>
          <p:cNvSpPr txBox="1"/>
          <p:nvPr>
            <p:ph idx="3" type="body"/>
          </p:nvPr>
        </p:nvSpPr>
        <p:spPr>
          <a:xfrm>
            <a:off x="2516100" y="2984575"/>
            <a:ext cx="1914300" cy="13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 the data so that IDs have a common format with regex.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Ex. ID is standardized to 4 digit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/>
              <a:t>SILVER</a:t>
            </a:r>
            <a:endParaRPr b="1"/>
          </a:p>
        </p:txBody>
      </p:sp>
      <p:sp>
        <p:nvSpPr>
          <p:cNvPr id="396" name="Google Shape;396;p61"/>
          <p:cNvSpPr txBox="1"/>
          <p:nvPr>
            <p:ph idx="4" type="body"/>
          </p:nvPr>
        </p:nvSpPr>
        <p:spPr>
          <a:xfrm>
            <a:off x="4713588" y="2984575"/>
            <a:ext cx="1914300" cy="10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Across all silver tables, JOIN by the master id based off the CTMS source data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/>
              <a:t>MASTER</a:t>
            </a:r>
            <a:endParaRPr b="1"/>
          </a:p>
        </p:txBody>
      </p:sp>
      <p:sp>
        <p:nvSpPr>
          <p:cNvPr id="397" name="Google Shape;397;p61"/>
          <p:cNvSpPr txBox="1"/>
          <p:nvPr>
            <p:ph idx="5" type="subTitle"/>
          </p:nvPr>
        </p:nvSpPr>
        <p:spPr>
          <a:xfrm>
            <a:off x="381950" y="2411662"/>
            <a:ext cx="1854900" cy="314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Ingestion of Data</a:t>
            </a:r>
            <a:endParaRPr/>
          </a:p>
        </p:txBody>
      </p:sp>
      <p:sp>
        <p:nvSpPr>
          <p:cNvPr id="398" name="Google Shape;398;p61"/>
          <p:cNvSpPr txBox="1"/>
          <p:nvPr>
            <p:ph idx="6" type="subTitle"/>
          </p:nvPr>
        </p:nvSpPr>
        <p:spPr>
          <a:xfrm>
            <a:off x="2574000" y="2411662"/>
            <a:ext cx="1854900" cy="314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 into Schema</a:t>
            </a:r>
            <a:endParaRPr/>
          </a:p>
        </p:txBody>
      </p:sp>
      <p:sp>
        <p:nvSpPr>
          <p:cNvPr id="399" name="Google Shape;399;p61"/>
          <p:cNvSpPr txBox="1"/>
          <p:nvPr>
            <p:ph idx="7" type="subTitle"/>
          </p:nvPr>
        </p:nvSpPr>
        <p:spPr>
          <a:xfrm>
            <a:off x="4806538" y="2411662"/>
            <a:ext cx="1822800" cy="314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Harmonize the IDs</a:t>
            </a:r>
            <a:endParaRPr/>
          </a:p>
        </p:txBody>
      </p:sp>
      <p:sp>
        <p:nvSpPr>
          <p:cNvPr id="400" name="Google Shape;400;p61"/>
          <p:cNvSpPr txBox="1"/>
          <p:nvPr>
            <p:ph idx="8" type="subTitle"/>
          </p:nvPr>
        </p:nvSpPr>
        <p:spPr>
          <a:xfrm>
            <a:off x="7007100" y="2411662"/>
            <a:ext cx="1822800" cy="314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2"/>
          <p:cNvSpPr txBox="1"/>
          <p:nvPr>
            <p:ph idx="2" type="subTitle"/>
          </p:nvPr>
        </p:nvSpPr>
        <p:spPr>
          <a:xfrm>
            <a:off x="4810050" y="462400"/>
            <a:ext cx="4048500" cy="73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Safety and Finance Systems do not have a numeric site ID</a:t>
            </a:r>
            <a:endParaRPr sz="1100"/>
          </a:p>
        </p:txBody>
      </p:sp>
      <p:sp>
        <p:nvSpPr>
          <p:cNvPr id="406" name="Google Shape;406;p62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Implement Jaccard set scoring by comparing site names and assigning a score based on how similar the site names were from the master site (CTMS)</a:t>
            </a:r>
            <a:endParaRPr sz="1100"/>
          </a:p>
        </p:txBody>
      </p:sp>
      <p:sp>
        <p:nvSpPr>
          <p:cNvPr id="407" name="Google Shape;407;p62"/>
          <p:cNvSpPr txBox="1"/>
          <p:nvPr>
            <p:ph idx="4" type="subTitle"/>
          </p:nvPr>
        </p:nvSpPr>
        <p:spPr>
          <a:xfrm>
            <a:off x="4810050" y="24271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Incomplete dates (e.g. 2000-02)</a:t>
            </a:r>
            <a:endParaRPr sz="1100"/>
          </a:p>
        </p:txBody>
      </p:sp>
      <p:sp>
        <p:nvSpPr>
          <p:cNvPr id="408" name="Google Shape;408;p62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Implement a flagging system to warn against incomplete data</a:t>
            </a:r>
            <a:endParaRPr sz="1100"/>
          </a:p>
        </p:txBody>
      </p:sp>
      <p:sp>
        <p:nvSpPr>
          <p:cNvPr id="409" name="Google Shape;409;p62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Problems with transformation and the solutions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3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Server/Backend</a:t>
            </a:r>
            <a:endParaRPr/>
          </a:p>
        </p:txBody>
      </p:sp>
      <p:sp>
        <p:nvSpPr>
          <p:cNvPr id="415" name="Google Shape;415;p63"/>
          <p:cNvSpPr txBox="1"/>
          <p:nvPr>
            <p:ph idx="1" type="subTitle"/>
          </p:nvPr>
        </p:nvSpPr>
        <p:spPr>
          <a:xfrm>
            <a:off x="228600" y="952675"/>
            <a:ext cx="4428600" cy="3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Technologies: fastAPI, DuckDB, Python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Contains: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Connection to the Database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REST API (fastAPI) for query endpoints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General Logic for querying the database for lineage, crosswalk, and quality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41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324" y="857375"/>
            <a:ext cx="3923675" cy="3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4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Continued</a:t>
            </a:r>
            <a:endParaRPr/>
          </a:p>
        </p:txBody>
      </p:sp>
      <p:sp>
        <p:nvSpPr>
          <p:cNvPr id="422" name="Google Shape;422;p64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Login Authentication for RBAC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Query logic based on RBAC configurations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lt1"/>
                </a:solidFill>
              </a:rPr>
              <a:t>(Filtering, Gemini, SQL direct query)</a:t>
            </a:r>
            <a:endParaRPr/>
          </a:p>
        </p:txBody>
      </p:sp>
      <p:pic>
        <p:nvPicPr>
          <p:cNvPr id="423" name="Google Shape;42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375" y="2656075"/>
            <a:ext cx="7185975" cy="21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5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429" name="Google Shape;429;p65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-"/>
            </a:pPr>
            <a:r>
              <a:rPr lang="en" sz="1800">
                <a:solidFill>
                  <a:schemeClr val="accent4"/>
                </a:solidFill>
              </a:rPr>
              <a:t>Ask queries in natural language</a:t>
            </a:r>
            <a:endParaRPr/>
          </a:p>
        </p:txBody>
      </p:sp>
      <p:sp>
        <p:nvSpPr>
          <p:cNvPr id="430" name="Google Shape;430;p65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-"/>
            </a:pPr>
            <a:r>
              <a:rPr lang="en" sz="1800">
                <a:solidFill>
                  <a:schemeClr val="accent4"/>
                </a:solidFill>
              </a:rPr>
              <a:t>Write SQL for faster speed</a:t>
            </a:r>
            <a:endParaRPr/>
          </a:p>
        </p:txBody>
      </p:sp>
      <p:sp>
        <p:nvSpPr>
          <p:cNvPr id="431" name="Google Shape;431;p65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-"/>
            </a:pPr>
            <a:r>
              <a:rPr lang="en" sz="1800">
                <a:solidFill>
                  <a:schemeClr val="accent4"/>
                </a:solidFill>
              </a:rPr>
              <a:t>View all messy or clean data</a:t>
            </a:r>
            <a:endParaRPr/>
          </a:p>
        </p:txBody>
      </p:sp>
      <p:sp>
        <p:nvSpPr>
          <p:cNvPr id="432" name="Google Shape;432;p65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-"/>
            </a:pPr>
            <a:r>
              <a:rPr lang="en" sz="1800">
                <a:solidFill>
                  <a:schemeClr val="accent4"/>
                </a:solidFill>
              </a:rPr>
              <a:t>See how the data was harmonized</a:t>
            </a:r>
            <a:endParaRPr/>
          </a:p>
        </p:txBody>
      </p:sp>
      <p:sp>
        <p:nvSpPr>
          <p:cNvPr id="433" name="Google Shape;433;p65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-"/>
            </a:pPr>
            <a:r>
              <a:rPr lang="en" sz="1800">
                <a:solidFill>
                  <a:schemeClr val="accent4"/>
                </a:solidFill>
              </a:rPr>
              <a:t>Role-based restricted access</a:t>
            </a:r>
            <a:endParaRPr/>
          </a:p>
        </p:txBody>
      </p:sp>
      <p:sp>
        <p:nvSpPr>
          <p:cNvPr id="434" name="Google Shape;434;p65"/>
          <p:cNvSpPr txBox="1"/>
          <p:nvPr/>
        </p:nvSpPr>
        <p:spPr>
          <a:xfrm>
            <a:off x="228600" y="166622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Technologies:</a:t>
            </a:r>
            <a:endParaRPr sz="18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nter"/>
              <a:buChar char="-"/>
            </a:pPr>
            <a:r>
              <a:rPr lang="en" sz="1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Next.js</a:t>
            </a:r>
            <a:endParaRPr sz="18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nter"/>
              <a:buChar char="-"/>
            </a:pPr>
            <a:r>
              <a:rPr lang="en" sz="1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Tailwind CSS</a:t>
            </a:r>
            <a:endParaRPr sz="18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nter"/>
              <a:buChar char="-"/>
            </a:pPr>
            <a:r>
              <a:rPr lang="en" sz="1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endParaRPr sz="18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6"/>
          <p:cNvSpPr txBox="1"/>
          <p:nvPr>
            <p:ph type="title"/>
          </p:nvPr>
        </p:nvSpPr>
        <p:spPr>
          <a:xfrm>
            <a:off x="570013" y="56800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Future </a:t>
            </a:r>
            <a:r>
              <a:rPr lang="en" sz="3500"/>
              <a:t>Ponderence</a:t>
            </a:r>
            <a:endParaRPr sz="3500"/>
          </a:p>
        </p:txBody>
      </p:sp>
      <p:sp>
        <p:nvSpPr>
          <p:cNvPr id="440" name="Google Shape;440;p66"/>
          <p:cNvSpPr txBox="1"/>
          <p:nvPr>
            <p:ph idx="4294967295" type="subTitle"/>
          </p:nvPr>
        </p:nvSpPr>
        <p:spPr>
          <a:xfrm>
            <a:off x="570025" y="1408275"/>
            <a:ext cx="5008800" cy="19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</a:rPr>
              <a:t>File System &amp; </a:t>
            </a:r>
            <a:r>
              <a:rPr lang="en" sz="1800">
                <a:solidFill>
                  <a:schemeClr val="accent4"/>
                </a:solidFill>
              </a:rPr>
              <a:t>Medallion</a:t>
            </a:r>
            <a:r>
              <a:rPr lang="en" sz="1800">
                <a:solidFill>
                  <a:schemeClr val="accent4"/>
                </a:solidFill>
              </a:rPr>
              <a:t> Access</a:t>
            </a:r>
            <a:endParaRPr sz="1800">
              <a:solidFill>
                <a:schemeClr val="accent4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File browser for raw feeds and Medallion layers (Bronze/Silver/Master/Gold)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Raw CSV/JSON and structured Parquet toggles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</a:rPr>
              <a:t>Zero-Downtime Data Lifecycle</a:t>
            </a:r>
            <a:endParaRPr sz="1800">
              <a:solidFill>
                <a:schemeClr val="accent4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Dynamic ingestion and archiving without server restarts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Live Gold table updates via Delta Lake transactions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</a:rPr>
              <a:t>Big Data &amp; PySpark Scaling</a:t>
            </a:r>
            <a:endParaRPr sz="1800">
              <a:solidFill>
                <a:schemeClr val="accent4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Offload heavy crosswalk transformations to PySpark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Distributed processing for out-of-core, multi-terabyte datasets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7"/>
          <p:cNvSpPr txBox="1"/>
          <p:nvPr>
            <p:ph type="title"/>
          </p:nvPr>
        </p:nvSpPr>
        <p:spPr>
          <a:xfrm>
            <a:off x="1080525" y="2114400"/>
            <a:ext cx="6602400" cy="14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</a:t>
            </a:r>
            <a:r>
              <a:rPr lang="en" sz="3800"/>
              <a:t>Thank</a:t>
            </a:r>
            <a:r>
              <a:rPr lang="en"/>
              <a:t>                                                        </a:t>
            </a:r>
            <a:r>
              <a:rPr lang="en" sz="3800"/>
              <a:t>You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D979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